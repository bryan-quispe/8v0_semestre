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4790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de Proyectos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Software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487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utilizando Story Points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3154680"/>
            <a:ext cx="7772400" cy="0"/>
          </a:xfrm>
          <a:prstGeom prst="line">
            <a:avLst/>
          </a:prstGeom>
          <a:noFill/>
          <a:ln w="889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Bryan Quispe</a:t>
            </a: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|      </a:t>
            </a:r>
            <a:r>
              <a:rPr lang="en-US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Ángel Marcelo Rea Guamán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y Evolución de Software     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son los Story Points?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8229600" cy="274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de medida relativa para estimar esfuerzo, complejidad e incertidumbre de las historias de usuario. No representan horas; permiten comparar tareas entre sí.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020824"/>
            <a:ext cx="1051560" cy="457200"/>
          </a:xfrm>
          <a:prstGeom prst="rect">
            <a:avLst/>
          </a:prstGeom>
          <a:solidFill>
            <a:srgbClr val="E8F5E9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020824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4048" y="2834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55064" y="1965960"/>
            <a:ext cx="1051560" cy="566928"/>
          </a:xfrm>
          <a:prstGeom prst="rect">
            <a:avLst/>
          </a:prstGeom>
          <a:solidFill>
            <a:srgbClr val="C8E6C9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55064" y="1965960"/>
            <a:ext cx="1051560" cy="340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81912" y="2834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52928" y="1911096"/>
            <a:ext cx="1051560" cy="676656"/>
          </a:xfrm>
          <a:prstGeom prst="rect">
            <a:avLst/>
          </a:prstGeom>
          <a:solidFill>
            <a:srgbClr val="A5D6A7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52928" y="1911096"/>
            <a:ext cx="1051560" cy="405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79776" y="2834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Pequeño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50792" y="1856232"/>
            <a:ext cx="1051560" cy="786384"/>
          </a:xfrm>
          <a:prstGeom prst="rect">
            <a:avLst/>
          </a:prstGeom>
          <a:solidFill>
            <a:srgbClr val="81C784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50792" y="1856232"/>
            <a:ext cx="1051560" cy="471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77640" y="2834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48656" y="1801368"/>
            <a:ext cx="1051560" cy="896112"/>
          </a:xfrm>
          <a:prstGeom prst="rect">
            <a:avLst/>
          </a:prstGeom>
          <a:solidFill>
            <a:srgbClr val="4CAF50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48656" y="1801368"/>
            <a:ext cx="1051560" cy="5376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75504" y="2834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46520" y="1746504"/>
            <a:ext cx="1051560" cy="1005840"/>
          </a:xfrm>
          <a:prstGeom prst="rect">
            <a:avLst/>
          </a:prstGeom>
          <a:solidFill>
            <a:srgbClr val="388E3C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46520" y="1746504"/>
            <a:ext cx="1051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73368" y="2834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gr.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644384" y="1691640"/>
            <a:ext cx="1051560" cy="1115568"/>
          </a:xfrm>
          <a:prstGeom prst="rect">
            <a:avLst/>
          </a:prstGeom>
          <a:solidFill>
            <a:srgbClr val="1B5E20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644384" y="1691640"/>
            <a:ext cx="1051560" cy="6693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571232" y="2834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Fibonacci — a mayor valor, mayor incertidumbre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566160"/>
            <a:ext cx="2011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3566160"/>
            <a:ext cx="54864" cy="12801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1792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1792" y="3913632"/>
            <a:ext cx="1783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compara entre tareas, no contra el reloj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651760" y="3566160"/>
            <a:ext cx="2011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651760" y="3566160"/>
            <a:ext cx="54864" cy="12801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816352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Consenso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816352" y="3913632"/>
            <a:ext cx="1783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equipo vota, no solo el líder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846320" y="3566160"/>
            <a:ext cx="2011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46320" y="3566160"/>
            <a:ext cx="54864" cy="12801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10912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10912" y="3913632"/>
            <a:ext cx="1783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productividad sprint a sprint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040880" y="3566160"/>
            <a:ext cx="2011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040880" y="3566160"/>
            <a:ext cx="54864" cy="12801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205472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horas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205472" y="3913632"/>
            <a:ext cx="1783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convertir pts a horas en público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</a:t>
            </a: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Estimación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8229600" cy="274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historia se evalúa en tres dimensiones simultáneas. El punto final refleja la combinación de las tres.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01168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01168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técnica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¿Cuántas capas involucra?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834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negocio, integraciones externas, algoritmos, estados concurrentes.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4206240"/>
            <a:ext cx="1828800" cy="274320"/>
          </a:xfrm>
          <a:prstGeom prst="rect">
            <a:avLst/>
          </a:prstGeom>
          <a:solidFill>
            <a:srgbClr val="EAF3DE"/>
          </a:solidFill>
          <a:ln w="635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↑ puntos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1280160"/>
            <a:ext cx="201168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68880" y="1280160"/>
            <a:ext cx="201168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68880" y="1280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60320" y="1874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de trabajo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23042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hay que hacer?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60320" y="2834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del stack afectadas, cobertura de tests, migraciones de base de datos.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0" y="4206240"/>
            <a:ext cx="1828800" cy="274320"/>
          </a:xfrm>
          <a:prstGeom prst="rect">
            <a:avLst/>
          </a:prstGeom>
          <a:solidFill>
            <a:srgbClr val="EAF3DE"/>
          </a:solidFill>
          <a:ln w="635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6032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Directo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1280160"/>
            <a:ext cx="201168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17720" y="1280160"/>
            <a:ext cx="201168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17720" y="1280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09160" y="1874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Incertidumbre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23042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claros son los requisitos?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09160" y="2834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 externas, APIs sin documentar, tecnología nueva para el equipo.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4206240"/>
            <a:ext cx="1828800" cy="274320"/>
          </a:xfrm>
          <a:prstGeom prst="rect">
            <a:avLst/>
          </a:prstGeom>
          <a:solidFill>
            <a:srgbClr val="EAF3DE"/>
          </a:solidFill>
          <a:ln w="635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0916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↑ puntos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66560" y="1280160"/>
            <a:ext cx="201168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766560" y="1280160"/>
            <a:ext cx="201168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766560" y="1280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58000" y="1874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Repetibilidad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23042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¿Ya se resolvió algo similar?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858000" y="2834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conocidas reciben menos puntos aunque el volumen sea similar.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58000" y="4206240"/>
            <a:ext cx="1828800" cy="274320"/>
          </a:xfrm>
          <a:prstGeom prst="rect">
            <a:avLst/>
          </a:prstGeom>
          <a:solidFill>
            <a:srgbClr val="EAF3DE"/>
          </a:solidFill>
          <a:ln w="6350">
            <a:solidFill>
              <a:srgbClr val="BBDD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5800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↓ puntos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</a:t>
            </a: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Equipo — Planning Poker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8229600" cy="274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47472" cy="347472"/>
          </a:xfrm>
          <a:prstGeom prst="ellipse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8412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presenta la historia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" y="1170432"/>
            <a:ext cx="0" cy="25603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47472" cy="347472"/>
          </a:xfrm>
          <a:prstGeom prst="ellipse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4356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miembro elige una carta en secreto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" y="1764792"/>
            <a:ext cx="0" cy="25603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347472" cy="347472"/>
          </a:xfrm>
          <a:prstGeom prst="ellipse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011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0299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revelan sus cartas al mismo tiempo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" y="2359152"/>
            <a:ext cx="0" cy="25603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347472" cy="347472"/>
          </a:xfrm>
          <a:prstGeom prst="ellipse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606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6243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Discrepancias → debate breve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" y="2953512"/>
            <a:ext cx="0" cy="25603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347472" cy="34747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200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32186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vota de nuevo hasta consenso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120640" y="777240"/>
            <a:ext cx="37490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12080" y="868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Velocidad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13258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1362456"/>
            <a:ext cx="2377440" cy="201168"/>
          </a:xfrm>
          <a:prstGeom prst="rect">
            <a:avLst/>
          </a:prstGeom>
          <a:solidFill>
            <a:srgbClr val="EEEEEE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63640" y="1362456"/>
            <a:ext cx="1236269" cy="20116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686800" y="13258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pts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12080" y="19842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2020824"/>
            <a:ext cx="2377440" cy="201168"/>
          </a:xfrm>
          <a:prstGeom prst="rect">
            <a:avLst/>
          </a:prstGeom>
          <a:solidFill>
            <a:srgbClr val="EEEEEE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263640" y="2020824"/>
            <a:ext cx="1474013" cy="20116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686800" y="198424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pts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12080" y="264261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2679192"/>
            <a:ext cx="2377440" cy="201168"/>
          </a:xfrm>
          <a:prstGeom prst="rect">
            <a:avLst/>
          </a:prstGeom>
          <a:solidFill>
            <a:srgbClr val="EEEEEE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263640" y="2679192"/>
            <a:ext cx="1711757" cy="20116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686800" y="26426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pts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12080" y="330098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63640" y="3337560"/>
            <a:ext cx="2377440" cy="201168"/>
          </a:xfrm>
          <a:prstGeom prst="rect">
            <a:avLst/>
          </a:prstGeom>
          <a:solidFill>
            <a:srgbClr val="EEEEEE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263640" y="3337560"/>
            <a:ext cx="1806854" cy="20116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686800" y="330098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pts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12080" y="39776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estabilizada: ~35 pts/sprint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base para planificar releases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41148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clave: nunca convertir Story Points a horas en público.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Práctico — Sistema Gestor de </a:t>
            </a:r>
            <a:r>
              <a:rPr lang="en-US" sz="20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20040" y="694944"/>
            <a:ext cx="8503920" cy="274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4 devs · Velocidad histórica: 36 pts/sprint ·  Sprint 1</a:t>
            </a:r>
            <a:endParaRPr lang="en-US" sz="1150" dirty="0"/>
          </a:p>
        </p:txBody>
      </p:sp>
      <p:sp>
        <p:nvSpPr>
          <p:cNvPr id="111" name="Shape 3">
            <a:extLst>
              <a:ext uri="{FF2B5EF4-FFF2-40B4-BE49-F238E27FC236}">
                <a16:creationId xmlns:a16="http://schemas.microsoft.com/office/drawing/2014/main" id="{91F2F249-797B-E8FA-95E4-F26ED77DF9E9}"/>
              </a:ext>
            </a:extLst>
          </p:cNvPr>
          <p:cNvSpPr/>
          <p:nvPr/>
        </p:nvSpPr>
        <p:spPr>
          <a:xfrm>
            <a:off x="274320" y="1529661"/>
            <a:ext cx="8503920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4">
            <a:extLst>
              <a:ext uri="{FF2B5EF4-FFF2-40B4-BE49-F238E27FC236}">
                <a16:creationId xmlns:a16="http://schemas.microsoft.com/office/drawing/2014/main" id="{31787BC0-1FE1-18B1-8E9B-7DEDCE21BDA8}"/>
              </a:ext>
            </a:extLst>
          </p:cNvPr>
          <p:cNvSpPr/>
          <p:nvPr/>
        </p:nvSpPr>
        <p:spPr>
          <a:xfrm>
            <a:off x="274320" y="1529661"/>
            <a:ext cx="40233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 usuario</a:t>
            </a:r>
            <a:endParaRPr lang="en-US" sz="1000" dirty="0"/>
          </a:p>
        </p:txBody>
      </p:sp>
      <p:sp>
        <p:nvSpPr>
          <p:cNvPr id="113" name="Text 5">
            <a:extLst>
              <a:ext uri="{FF2B5EF4-FFF2-40B4-BE49-F238E27FC236}">
                <a16:creationId xmlns:a16="http://schemas.microsoft.com/office/drawing/2014/main" id="{C20B1D45-82BA-A747-3507-49F6B98D989F}"/>
              </a:ext>
            </a:extLst>
          </p:cNvPr>
          <p:cNvSpPr/>
          <p:nvPr/>
        </p:nvSpPr>
        <p:spPr>
          <a:xfrm>
            <a:off x="4389120" y="1529661"/>
            <a:ext cx="685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Compl.</a:t>
            </a:r>
            <a:endParaRPr lang="en-US" sz="1000" dirty="0"/>
          </a:p>
        </p:txBody>
      </p:sp>
      <p:sp>
        <p:nvSpPr>
          <p:cNvPr id="114" name="Text 6">
            <a:extLst>
              <a:ext uri="{FF2B5EF4-FFF2-40B4-BE49-F238E27FC236}">
                <a16:creationId xmlns:a16="http://schemas.microsoft.com/office/drawing/2014/main" id="{EBA970A1-5A10-3F63-174F-C0C47B3DFB86}"/>
              </a:ext>
            </a:extLst>
          </p:cNvPr>
          <p:cNvSpPr/>
          <p:nvPr/>
        </p:nvSpPr>
        <p:spPr>
          <a:xfrm>
            <a:off x="5120640" y="1529661"/>
            <a:ext cx="685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15" name="Text 7">
            <a:extLst>
              <a:ext uri="{FF2B5EF4-FFF2-40B4-BE49-F238E27FC236}">
                <a16:creationId xmlns:a16="http://schemas.microsoft.com/office/drawing/2014/main" id="{285EBC67-2901-D9C3-59EE-C6338111A76D}"/>
              </a:ext>
            </a:extLst>
          </p:cNvPr>
          <p:cNvSpPr/>
          <p:nvPr/>
        </p:nvSpPr>
        <p:spPr>
          <a:xfrm>
            <a:off x="5852160" y="1529661"/>
            <a:ext cx="685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Incert.</a:t>
            </a:r>
            <a:endParaRPr lang="en-US" sz="1000" dirty="0"/>
          </a:p>
        </p:txBody>
      </p:sp>
      <p:sp>
        <p:nvSpPr>
          <p:cNvPr id="116" name="Text 8">
            <a:extLst>
              <a:ext uri="{FF2B5EF4-FFF2-40B4-BE49-F238E27FC236}">
                <a16:creationId xmlns:a16="http://schemas.microsoft.com/office/drawing/2014/main" id="{7A16269A-5D39-CFD9-B025-FE59213BB439}"/>
              </a:ext>
            </a:extLst>
          </p:cNvPr>
          <p:cNvSpPr/>
          <p:nvPr/>
        </p:nvSpPr>
        <p:spPr>
          <a:xfrm>
            <a:off x="6583680" y="1529661"/>
            <a:ext cx="5486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1000" dirty="0"/>
          </a:p>
        </p:txBody>
      </p:sp>
      <p:sp>
        <p:nvSpPr>
          <p:cNvPr id="117" name="Text 9">
            <a:extLst>
              <a:ext uri="{FF2B5EF4-FFF2-40B4-BE49-F238E27FC236}">
                <a16:creationId xmlns:a16="http://schemas.microsoft.com/office/drawing/2014/main" id="{22DC2093-8767-3E29-E10F-91F7358C4B82}"/>
              </a:ext>
            </a:extLst>
          </p:cNvPr>
          <p:cNvSpPr/>
          <p:nvPr/>
        </p:nvSpPr>
        <p:spPr>
          <a:xfrm>
            <a:off x="7178040" y="1529661"/>
            <a:ext cx="16459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000" dirty="0"/>
          </a:p>
        </p:txBody>
      </p:sp>
      <p:sp>
        <p:nvSpPr>
          <p:cNvPr id="118" name="Shape 10">
            <a:extLst>
              <a:ext uri="{FF2B5EF4-FFF2-40B4-BE49-F238E27FC236}">
                <a16:creationId xmlns:a16="http://schemas.microsoft.com/office/drawing/2014/main" id="{410B064A-0F9A-CC78-C5D3-F8960BF7048B}"/>
              </a:ext>
            </a:extLst>
          </p:cNvPr>
          <p:cNvSpPr/>
          <p:nvPr/>
        </p:nvSpPr>
        <p:spPr>
          <a:xfrm>
            <a:off x="274320" y="1877133"/>
            <a:ext cx="85039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">
            <a:extLst>
              <a:ext uri="{FF2B5EF4-FFF2-40B4-BE49-F238E27FC236}">
                <a16:creationId xmlns:a16="http://schemas.microsoft.com/office/drawing/2014/main" id="{D59537F2-D921-A5BA-F29A-9ED5DD30DF3F}"/>
              </a:ext>
            </a:extLst>
          </p:cNvPr>
          <p:cNvSpPr/>
          <p:nvPr/>
        </p:nvSpPr>
        <p:spPr>
          <a:xfrm>
            <a:off x="274320" y="1877133"/>
            <a:ext cx="4023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con email + JWT (Auth, bcrypt)</a:t>
            </a:r>
            <a:endParaRPr lang="en-US" sz="1000" dirty="0"/>
          </a:p>
        </p:txBody>
      </p:sp>
      <p:sp>
        <p:nvSpPr>
          <p:cNvPr id="120" name="Text 12">
            <a:extLst>
              <a:ext uri="{FF2B5EF4-FFF2-40B4-BE49-F238E27FC236}">
                <a16:creationId xmlns:a16="http://schemas.microsoft.com/office/drawing/2014/main" id="{7F801FB8-098A-A2E3-79CC-C35640A17C1E}"/>
              </a:ext>
            </a:extLst>
          </p:cNvPr>
          <p:cNvSpPr/>
          <p:nvPr/>
        </p:nvSpPr>
        <p:spPr>
          <a:xfrm>
            <a:off x="4389120" y="1877133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000" dirty="0"/>
          </a:p>
        </p:txBody>
      </p:sp>
      <p:sp>
        <p:nvSpPr>
          <p:cNvPr id="121" name="Text 13">
            <a:extLst>
              <a:ext uri="{FF2B5EF4-FFF2-40B4-BE49-F238E27FC236}">
                <a16:creationId xmlns:a16="http://schemas.microsoft.com/office/drawing/2014/main" id="{7E51F3AF-DC31-3F9E-3982-F11EA027C8AA}"/>
              </a:ext>
            </a:extLst>
          </p:cNvPr>
          <p:cNvSpPr/>
          <p:nvPr/>
        </p:nvSpPr>
        <p:spPr>
          <a:xfrm>
            <a:off x="5120640" y="1877133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000" dirty="0"/>
          </a:p>
        </p:txBody>
      </p:sp>
      <p:sp>
        <p:nvSpPr>
          <p:cNvPr id="122" name="Text 14">
            <a:extLst>
              <a:ext uri="{FF2B5EF4-FFF2-40B4-BE49-F238E27FC236}">
                <a16:creationId xmlns:a16="http://schemas.microsoft.com/office/drawing/2014/main" id="{42A17766-080B-7B9E-058E-ACE95DD70064}"/>
              </a:ext>
            </a:extLst>
          </p:cNvPr>
          <p:cNvSpPr/>
          <p:nvPr/>
        </p:nvSpPr>
        <p:spPr>
          <a:xfrm>
            <a:off x="5852160" y="1877133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000" dirty="0"/>
          </a:p>
        </p:txBody>
      </p:sp>
      <p:sp>
        <p:nvSpPr>
          <p:cNvPr id="123" name="Text 15">
            <a:extLst>
              <a:ext uri="{FF2B5EF4-FFF2-40B4-BE49-F238E27FC236}">
                <a16:creationId xmlns:a16="http://schemas.microsoft.com/office/drawing/2014/main" id="{94BAACEF-6987-4949-5918-00678C5B86E0}"/>
              </a:ext>
            </a:extLst>
          </p:cNvPr>
          <p:cNvSpPr/>
          <p:nvPr/>
        </p:nvSpPr>
        <p:spPr>
          <a:xfrm>
            <a:off x="6583680" y="1877133"/>
            <a:ext cx="5486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24" name="Text 16">
            <a:extLst>
              <a:ext uri="{FF2B5EF4-FFF2-40B4-BE49-F238E27FC236}">
                <a16:creationId xmlns:a16="http://schemas.microsoft.com/office/drawing/2014/main" id="{8FD83F67-863F-C2AA-7928-EB8EF8D19802}"/>
              </a:ext>
            </a:extLst>
          </p:cNvPr>
          <p:cNvSpPr/>
          <p:nvPr/>
        </p:nvSpPr>
        <p:spPr>
          <a:xfrm>
            <a:off x="7178040" y="1877133"/>
            <a:ext cx="16459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000" dirty="0"/>
          </a:p>
        </p:txBody>
      </p:sp>
      <p:sp>
        <p:nvSpPr>
          <p:cNvPr id="125" name="Shape 17">
            <a:extLst>
              <a:ext uri="{FF2B5EF4-FFF2-40B4-BE49-F238E27FC236}">
                <a16:creationId xmlns:a16="http://schemas.microsoft.com/office/drawing/2014/main" id="{5905AB41-BAE2-78EE-4370-F09FDBC8A4AB}"/>
              </a:ext>
            </a:extLst>
          </p:cNvPr>
          <p:cNvSpPr/>
          <p:nvPr/>
        </p:nvSpPr>
        <p:spPr>
          <a:xfrm>
            <a:off x="274320" y="2215461"/>
            <a:ext cx="8503920" cy="32918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8">
            <a:extLst>
              <a:ext uri="{FF2B5EF4-FFF2-40B4-BE49-F238E27FC236}">
                <a16:creationId xmlns:a16="http://schemas.microsoft.com/office/drawing/2014/main" id="{376A5711-8124-6D40-EA4F-4AAB0C206726}"/>
              </a:ext>
            </a:extLst>
          </p:cNvPr>
          <p:cNvSpPr/>
          <p:nvPr/>
        </p:nvSpPr>
        <p:spPr>
          <a:xfrm>
            <a:off x="274320" y="2215461"/>
            <a:ext cx="4023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año lectivo (CRUD)</a:t>
            </a:r>
            <a:endParaRPr lang="en-US" sz="1000" dirty="0"/>
          </a:p>
        </p:txBody>
      </p:sp>
      <p:sp>
        <p:nvSpPr>
          <p:cNvPr id="127" name="Text 19">
            <a:extLst>
              <a:ext uri="{FF2B5EF4-FFF2-40B4-BE49-F238E27FC236}">
                <a16:creationId xmlns:a16="http://schemas.microsoft.com/office/drawing/2014/main" id="{672EF998-9652-FD03-6DD3-50724966EB62}"/>
              </a:ext>
            </a:extLst>
          </p:cNvPr>
          <p:cNvSpPr/>
          <p:nvPr/>
        </p:nvSpPr>
        <p:spPr>
          <a:xfrm>
            <a:off x="4389120" y="2215461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000" dirty="0"/>
          </a:p>
        </p:txBody>
      </p:sp>
      <p:sp>
        <p:nvSpPr>
          <p:cNvPr id="128" name="Text 20">
            <a:extLst>
              <a:ext uri="{FF2B5EF4-FFF2-40B4-BE49-F238E27FC236}">
                <a16:creationId xmlns:a16="http://schemas.microsoft.com/office/drawing/2014/main" id="{E1B92664-E3E5-C508-A36D-9414FC48595B}"/>
              </a:ext>
            </a:extLst>
          </p:cNvPr>
          <p:cNvSpPr/>
          <p:nvPr/>
        </p:nvSpPr>
        <p:spPr>
          <a:xfrm>
            <a:off x="5120640" y="2215461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000" dirty="0"/>
          </a:p>
        </p:txBody>
      </p:sp>
      <p:sp>
        <p:nvSpPr>
          <p:cNvPr id="129" name="Text 21">
            <a:extLst>
              <a:ext uri="{FF2B5EF4-FFF2-40B4-BE49-F238E27FC236}">
                <a16:creationId xmlns:a16="http://schemas.microsoft.com/office/drawing/2014/main" id="{2F83CF19-0C4A-A73C-6FCF-957E09F0F156}"/>
              </a:ext>
            </a:extLst>
          </p:cNvPr>
          <p:cNvSpPr/>
          <p:nvPr/>
        </p:nvSpPr>
        <p:spPr>
          <a:xfrm>
            <a:off x="5852160" y="2215461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000" dirty="0"/>
          </a:p>
        </p:txBody>
      </p:sp>
      <p:sp>
        <p:nvSpPr>
          <p:cNvPr id="130" name="Text 22">
            <a:extLst>
              <a:ext uri="{FF2B5EF4-FFF2-40B4-BE49-F238E27FC236}">
                <a16:creationId xmlns:a16="http://schemas.microsoft.com/office/drawing/2014/main" id="{F6A4A49A-FE5F-7326-BE8C-B5ED8A16AE8F}"/>
              </a:ext>
            </a:extLst>
          </p:cNvPr>
          <p:cNvSpPr/>
          <p:nvPr/>
        </p:nvSpPr>
        <p:spPr>
          <a:xfrm>
            <a:off x="6583680" y="2215461"/>
            <a:ext cx="5486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1" name="Text 23">
            <a:extLst>
              <a:ext uri="{FF2B5EF4-FFF2-40B4-BE49-F238E27FC236}">
                <a16:creationId xmlns:a16="http://schemas.microsoft.com/office/drawing/2014/main" id="{42012A52-D099-D9DF-467D-6B5D7A3CCB97}"/>
              </a:ext>
            </a:extLst>
          </p:cNvPr>
          <p:cNvSpPr/>
          <p:nvPr/>
        </p:nvSpPr>
        <p:spPr>
          <a:xfrm>
            <a:off x="7178040" y="2215461"/>
            <a:ext cx="16459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000" dirty="0"/>
          </a:p>
        </p:txBody>
      </p:sp>
      <p:sp>
        <p:nvSpPr>
          <p:cNvPr id="132" name="Shape 24">
            <a:extLst>
              <a:ext uri="{FF2B5EF4-FFF2-40B4-BE49-F238E27FC236}">
                <a16:creationId xmlns:a16="http://schemas.microsoft.com/office/drawing/2014/main" id="{C33EEF42-B7F8-0D28-D5E3-876D6CE7705E}"/>
              </a:ext>
            </a:extLst>
          </p:cNvPr>
          <p:cNvSpPr/>
          <p:nvPr/>
        </p:nvSpPr>
        <p:spPr>
          <a:xfrm>
            <a:off x="274320" y="2553789"/>
            <a:ext cx="85039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25">
            <a:extLst>
              <a:ext uri="{FF2B5EF4-FFF2-40B4-BE49-F238E27FC236}">
                <a16:creationId xmlns:a16="http://schemas.microsoft.com/office/drawing/2014/main" id="{E7E7A548-F03E-8840-2C23-011722357B7A}"/>
              </a:ext>
            </a:extLst>
          </p:cNvPr>
          <p:cNvSpPr/>
          <p:nvPr/>
        </p:nvSpPr>
        <p:spPr>
          <a:xfrm>
            <a:off x="274320" y="2553789"/>
            <a:ext cx="4023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actividades con límite por parcial</a:t>
            </a:r>
            <a:endParaRPr lang="en-US" sz="1000" dirty="0"/>
          </a:p>
        </p:txBody>
      </p:sp>
      <p:sp>
        <p:nvSpPr>
          <p:cNvPr id="134" name="Text 26">
            <a:extLst>
              <a:ext uri="{FF2B5EF4-FFF2-40B4-BE49-F238E27FC236}">
                <a16:creationId xmlns:a16="http://schemas.microsoft.com/office/drawing/2014/main" id="{CE893AF5-4767-6190-215B-4AF610C7F8EB}"/>
              </a:ext>
            </a:extLst>
          </p:cNvPr>
          <p:cNvSpPr/>
          <p:nvPr/>
        </p:nvSpPr>
        <p:spPr>
          <a:xfrm>
            <a:off x="4389120" y="2553789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Med.</a:t>
            </a:r>
            <a:endParaRPr lang="en-US" sz="1000" dirty="0"/>
          </a:p>
        </p:txBody>
      </p:sp>
      <p:sp>
        <p:nvSpPr>
          <p:cNvPr id="135" name="Text 27">
            <a:extLst>
              <a:ext uri="{FF2B5EF4-FFF2-40B4-BE49-F238E27FC236}">
                <a16:creationId xmlns:a16="http://schemas.microsoft.com/office/drawing/2014/main" id="{CBC857C5-B08E-24D2-FC45-2057C4F85A1E}"/>
              </a:ext>
            </a:extLst>
          </p:cNvPr>
          <p:cNvSpPr/>
          <p:nvPr/>
        </p:nvSpPr>
        <p:spPr>
          <a:xfrm>
            <a:off x="5120640" y="2553789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Med.</a:t>
            </a:r>
            <a:endParaRPr lang="en-US" sz="1000" dirty="0"/>
          </a:p>
        </p:txBody>
      </p:sp>
      <p:sp>
        <p:nvSpPr>
          <p:cNvPr id="136" name="Text 28">
            <a:extLst>
              <a:ext uri="{FF2B5EF4-FFF2-40B4-BE49-F238E27FC236}">
                <a16:creationId xmlns:a16="http://schemas.microsoft.com/office/drawing/2014/main" id="{6D7CB59B-8AB7-95E1-E22C-CB9C6187EFB9}"/>
              </a:ext>
            </a:extLst>
          </p:cNvPr>
          <p:cNvSpPr/>
          <p:nvPr/>
        </p:nvSpPr>
        <p:spPr>
          <a:xfrm>
            <a:off x="5852160" y="2553789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Med.</a:t>
            </a:r>
            <a:endParaRPr lang="en-US" sz="1000" dirty="0"/>
          </a:p>
        </p:txBody>
      </p:sp>
      <p:sp>
        <p:nvSpPr>
          <p:cNvPr id="137" name="Text 29">
            <a:extLst>
              <a:ext uri="{FF2B5EF4-FFF2-40B4-BE49-F238E27FC236}">
                <a16:creationId xmlns:a16="http://schemas.microsoft.com/office/drawing/2014/main" id="{E6218EFF-5318-36D5-17D5-EB61694B3B1F}"/>
              </a:ext>
            </a:extLst>
          </p:cNvPr>
          <p:cNvSpPr/>
          <p:nvPr/>
        </p:nvSpPr>
        <p:spPr>
          <a:xfrm>
            <a:off x="6583680" y="2553789"/>
            <a:ext cx="5486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38" name="Text 30">
            <a:extLst>
              <a:ext uri="{FF2B5EF4-FFF2-40B4-BE49-F238E27FC236}">
                <a16:creationId xmlns:a16="http://schemas.microsoft.com/office/drawing/2014/main" id="{53BACF9B-D9FA-9C0B-E4BE-EB0557174C13}"/>
              </a:ext>
            </a:extLst>
          </p:cNvPr>
          <p:cNvSpPr/>
          <p:nvPr/>
        </p:nvSpPr>
        <p:spPr>
          <a:xfrm>
            <a:off x="7178040" y="2553789"/>
            <a:ext cx="16459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000" dirty="0"/>
          </a:p>
        </p:txBody>
      </p:sp>
      <p:sp>
        <p:nvSpPr>
          <p:cNvPr id="139" name="Shape 31">
            <a:extLst>
              <a:ext uri="{FF2B5EF4-FFF2-40B4-BE49-F238E27FC236}">
                <a16:creationId xmlns:a16="http://schemas.microsoft.com/office/drawing/2014/main" id="{CFCCBAFD-8ED3-516E-EB79-51EE6941A389}"/>
              </a:ext>
            </a:extLst>
          </p:cNvPr>
          <p:cNvSpPr/>
          <p:nvPr/>
        </p:nvSpPr>
        <p:spPr>
          <a:xfrm>
            <a:off x="274320" y="2892117"/>
            <a:ext cx="8503920" cy="32918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32">
            <a:extLst>
              <a:ext uri="{FF2B5EF4-FFF2-40B4-BE49-F238E27FC236}">
                <a16:creationId xmlns:a16="http://schemas.microsoft.com/office/drawing/2014/main" id="{C0EB496E-D4CE-3653-05D2-9537BF50D92F}"/>
              </a:ext>
            </a:extLst>
          </p:cNvPr>
          <p:cNvSpPr/>
          <p:nvPr/>
        </p:nvSpPr>
        <p:spPr>
          <a:xfrm>
            <a:off x="274320" y="2892117"/>
            <a:ext cx="4023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Calificaciones masivas bulk (upsert)</a:t>
            </a:r>
            <a:endParaRPr lang="en-US" sz="1000" dirty="0"/>
          </a:p>
        </p:txBody>
      </p:sp>
      <p:sp>
        <p:nvSpPr>
          <p:cNvPr id="141" name="Text 33">
            <a:extLst>
              <a:ext uri="{FF2B5EF4-FFF2-40B4-BE49-F238E27FC236}">
                <a16:creationId xmlns:a16="http://schemas.microsoft.com/office/drawing/2014/main" id="{61163FC8-64F5-701E-1415-3E685C4ADA68}"/>
              </a:ext>
            </a:extLst>
          </p:cNvPr>
          <p:cNvSpPr/>
          <p:nvPr/>
        </p:nvSpPr>
        <p:spPr>
          <a:xfrm>
            <a:off x="4389120" y="2892117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Med.</a:t>
            </a:r>
            <a:endParaRPr lang="en-US" sz="1000" dirty="0"/>
          </a:p>
        </p:txBody>
      </p:sp>
      <p:sp>
        <p:nvSpPr>
          <p:cNvPr id="142" name="Text 34">
            <a:extLst>
              <a:ext uri="{FF2B5EF4-FFF2-40B4-BE49-F238E27FC236}">
                <a16:creationId xmlns:a16="http://schemas.microsoft.com/office/drawing/2014/main" id="{01494A5F-4E5E-C40F-62DF-D4CCCA97BD19}"/>
              </a:ext>
            </a:extLst>
          </p:cNvPr>
          <p:cNvSpPr/>
          <p:nvPr/>
        </p:nvSpPr>
        <p:spPr>
          <a:xfrm>
            <a:off x="5120640" y="2892117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143" name="Text 35">
            <a:extLst>
              <a:ext uri="{FF2B5EF4-FFF2-40B4-BE49-F238E27FC236}">
                <a16:creationId xmlns:a16="http://schemas.microsoft.com/office/drawing/2014/main" id="{2F80B2B3-2D25-A632-6F6D-CD65642E6155}"/>
              </a:ext>
            </a:extLst>
          </p:cNvPr>
          <p:cNvSpPr/>
          <p:nvPr/>
        </p:nvSpPr>
        <p:spPr>
          <a:xfrm>
            <a:off x="5852160" y="2892117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Med.</a:t>
            </a:r>
            <a:endParaRPr lang="en-US" sz="1000" dirty="0"/>
          </a:p>
        </p:txBody>
      </p:sp>
      <p:sp>
        <p:nvSpPr>
          <p:cNvPr id="144" name="Text 36">
            <a:extLst>
              <a:ext uri="{FF2B5EF4-FFF2-40B4-BE49-F238E27FC236}">
                <a16:creationId xmlns:a16="http://schemas.microsoft.com/office/drawing/2014/main" id="{B2B968F0-3B08-42EB-BF55-CE4C47A2516C}"/>
              </a:ext>
            </a:extLst>
          </p:cNvPr>
          <p:cNvSpPr/>
          <p:nvPr/>
        </p:nvSpPr>
        <p:spPr>
          <a:xfrm>
            <a:off x="6583680" y="2892117"/>
            <a:ext cx="5486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45" name="Text 37">
            <a:extLst>
              <a:ext uri="{FF2B5EF4-FFF2-40B4-BE49-F238E27FC236}">
                <a16:creationId xmlns:a16="http://schemas.microsoft.com/office/drawing/2014/main" id="{4826E56A-13C2-9BD3-78FD-496773971CC0}"/>
              </a:ext>
            </a:extLst>
          </p:cNvPr>
          <p:cNvSpPr/>
          <p:nvPr/>
        </p:nvSpPr>
        <p:spPr>
          <a:xfrm>
            <a:off x="7178040" y="2892117"/>
            <a:ext cx="16459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</a:t>
            </a:r>
            <a:endParaRPr lang="en-US" sz="1000" dirty="0"/>
          </a:p>
        </p:txBody>
      </p:sp>
      <p:sp>
        <p:nvSpPr>
          <p:cNvPr id="146" name="Shape 38">
            <a:extLst>
              <a:ext uri="{FF2B5EF4-FFF2-40B4-BE49-F238E27FC236}">
                <a16:creationId xmlns:a16="http://schemas.microsoft.com/office/drawing/2014/main" id="{4D154074-0B9C-9EC2-06E7-A4E4FA38224B}"/>
              </a:ext>
            </a:extLst>
          </p:cNvPr>
          <p:cNvSpPr/>
          <p:nvPr/>
        </p:nvSpPr>
        <p:spPr>
          <a:xfrm>
            <a:off x="274320" y="3230445"/>
            <a:ext cx="85039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Text 39">
            <a:extLst>
              <a:ext uri="{FF2B5EF4-FFF2-40B4-BE49-F238E27FC236}">
                <a16:creationId xmlns:a16="http://schemas.microsoft.com/office/drawing/2014/main" id="{02BBD22D-1948-9909-2E0E-EAACA9D2C2CA}"/>
              </a:ext>
            </a:extLst>
          </p:cNvPr>
          <p:cNvSpPr/>
          <p:nvPr/>
        </p:nvSpPr>
        <p:spPr>
          <a:xfrm>
            <a:off x="274320" y="3230445"/>
            <a:ext cx="4023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Recálculo de promedios por parcial/materia</a:t>
            </a:r>
            <a:endParaRPr lang="en-US" sz="1000" dirty="0"/>
          </a:p>
        </p:txBody>
      </p:sp>
      <p:sp>
        <p:nvSpPr>
          <p:cNvPr id="148" name="Text 40">
            <a:extLst>
              <a:ext uri="{FF2B5EF4-FFF2-40B4-BE49-F238E27FC236}">
                <a16:creationId xmlns:a16="http://schemas.microsoft.com/office/drawing/2014/main" id="{DD15A8F3-BD62-F0F7-6DA8-AE83BAF697AA}"/>
              </a:ext>
            </a:extLst>
          </p:cNvPr>
          <p:cNvSpPr/>
          <p:nvPr/>
        </p:nvSpPr>
        <p:spPr>
          <a:xfrm>
            <a:off x="4389120" y="3230445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149" name="Text 41">
            <a:extLst>
              <a:ext uri="{FF2B5EF4-FFF2-40B4-BE49-F238E27FC236}">
                <a16:creationId xmlns:a16="http://schemas.microsoft.com/office/drawing/2014/main" id="{0BA04052-17A7-BD28-8F95-8EC5934164D5}"/>
              </a:ext>
            </a:extLst>
          </p:cNvPr>
          <p:cNvSpPr/>
          <p:nvPr/>
        </p:nvSpPr>
        <p:spPr>
          <a:xfrm>
            <a:off x="5120640" y="3230445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150" name="Text 42">
            <a:extLst>
              <a:ext uri="{FF2B5EF4-FFF2-40B4-BE49-F238E27FC236}">
                <a16:creationId xmlns:a16="http://schemas.microsoft.com/office/drawing/2014/main" id="{B0AF200E-0606-13D5-B2C6-06A800A6CFD3}"/>
              </a:ext>
            </a:extLst>
          </p:cNvPr>
          <p:cNvSpPr/>
          <p:nvPr/>
        </p:nvSpPr>
        <p:spPr>
          <a:xfrm>
            <a:off x="5852160" y="3230445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Med.</a:t>
            </a:r>
            <a:endParaRPr lang="en-US" sz="1000" dirty="0"/>
          </a:p>
        </p:txBody>
      </p:sp>
      <p:sp>
        <p:nvSpPr>
          <p:cNvPr id="151" name="Text 43">
            <a:extLst>
              <a:ext uri="{FF2B5EF4-FFF2-40B4-BE49-F238E27FC236}">
                <a16:creationId xmlns:a16="http://schemas.microsoft.com/office/drawing/2014/main" id="{E54DA72D-6699-8079-F55F-EDA9652E2686}"/>
              </a:ext>
            </a:extLst>
          </p:cNvPr>
          <p:cNvSpPr/>
          <p:nvPr/>
        </p:nvSpPr>
        <p:spPr>
          <a:xfrm>
            <a:off x="6583680" y="3230445"/>
            <a:ext cx="5486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52" name="Text 44">
            <a:extLst>
              <a:ext uri="{FF2B5EF4-FFF2-40B4-BE49-F238E27FC236}">
                <a16:creationId xmlns:a16="http://schemas.microsoft.com/office/drawing/2014/main" id="{1E7182CE-7D1F-5773-1A83-DB54E79F6883}"/>
              </a:ext>
            </a:extLst>
          </p:cNvPr>
          <p:cNvSpPr/>
          <p:nvPr/>
        </p:nvSpPr>
        <p:spPr>
          <a:xfrm>
            <a:off x="7178040" y="3230445"/>
            <a:ext cx="16459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</a:t>
            </a:r>
            <a:endParaRPr lang="en-US" sz="1000" dirty="0"/>
          </a:p>
        </p:txBody>
      </p:sp>
      <p:sp>
        <p:nvSpPr>
          <p:cNvPr id="153" name="Shape 45">
            <a:extLst>
              <a:ext uri="{FF2B5EF4-FFF2-40B4-BE49-F238E27FC236}">
                <a16:creationId xmlns:a16="http://schemas.microsoft.com/office/drawing/2014/main" id="{EE84F28F-B132-DEE0-BF85-939DDB6FDB6F}"/>
              </a:ext>
            </a:extLst>
          </p:cNvPr>
          <p:cNvSpPr/>
          <p:nvPr/>
        </p:nvSpPr>
        <p:spPr>
          <a:xfrm>
            <a:off x="45720" y="3568773"/>
            <a:ext cx="8503920" cy="32918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Text 46">
            <a:extLst>
              <a:ext uri="{FF2B5EF4-FFF2-40B4-BE49-F238E27FC236}">
                <a16:creationId xmlns:a16="http://schemas.microsoft.com/office/drawing/2014/main" id="{12054758-3AEA-22C5-721A-2B9C8CEFAC07}"/>
              </a:ext>
            </a:extLst>
          </p:cNvPr>
          <p:cNvSpPr/>
          <p:nvPr/>
        </p:nvSpPr>
        <p:spPr>
          <a:xfrm>
            <a:off x="274320" y="3568773"/>
            <a:ext cx="4023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al publicar </a:t>
            </a:r>
            <a:r>
              <a:rPr lang="en-US" sz="1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155" name="Text 47">
            <a:extLst>
              <a:ext uri="{FF2B5EF4-FFF2-40B4-BE49-F238E27FC236}">
                <a16:creationId xmlns:a16="http://schemas.microsoft.com/office/drawing/2014/main" id="{A9CEA40E-DB3A-BA3B-B988-BE7D4CD3A19E}"/>
              </a:ext>
            </a:extLst>
          </p:cNvPr>
          <p:cNvSpPr/>
          <p:nvPr/>
        </p:nvSpPr>
        <p:spPr>
          <a:xfrm>
            <a:off x="4389120" y="3568773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Med.</a:t>
            </a:r>
            <a:endParaRPr lang="en-US" sz="1000" dirty="0"/>
          </a:p>
        </p:txBody>
      </p:sp>
      <p:sp>
        <p:nvSpPr>
          <p:cNvPr id="156" name="Text 48">
            <a:extLst>
              <a:ext uri="{FF2B5EF4-FFF2-40B4-BE49-F238E27FC236}">
                <a16:creationId xmlns:a16="http://schemas.microsoft.com/office/drawing/2014/main" id="{58DAECC7-582F-BEB1-DCF9-DE403B10E685}"/>
              </a:ext>
            </a:extLst>
          </p:cNvPr>
          <p:cNvSpPr/>
          <p:nvPr/>
        </p:nvSpPr>
        <p:spPr>
          <a:xfrm>
            <a:off x="5120640" y="3568773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Med.</a:t>
            </a:r>
            <a:endParaRPr lang="en-US" sz="1000" dirty="0"/>
          </a:p>
        </p:txBody>
      </p:sp>
      <p:sp>
        <p:nvSpPr>
          <p:cNvPr id="157" name="Text 49">
            <a:extLst>
              <a:ext uri="{FF2B5EF4-FFF2-40B4-BE49-F238E27FC236}">
                <a16:creationId xmlns:a16="http://schemas.microsoft.com/office/drawing/2014/main" id="{06115F94-B451-63BC-AF68-885E1235563F}"/>
              </a:ext>
            </a:extLst>
          </p:cNvPr>
          <p:cNvSpPr/>
          <p:nvPr/>
        </p:nvSpPr>
        <p:spPr>
          <a:xfrm>
            <a:off x="5852160" y="3568773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158" name="Text 50">
            <a:extLst>
              <a:ext uri="{FF2B5EF4-FFF2-40B4-BE49-F238E27FC236}">
                <a16:creationId xmlns:a16="http://schemas.microsoft.com/office/drawing/2014/main" id="{C3FD00F0-D1A5-0787-7AD1-A6CAC19F7166}"/>
              </a:ext>
            </a:extLst>
          </p:cNvPr>
          <p:cNvSpPr/>
          <p:nvPr/>
        </p:nvSpPr>
        <p:spPr>
          <a:xfrm>
            <a:off x="6583680" y="3568773"/>
            <a:ext cx="5486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59" name="Text 51">
            <a:extLst>
              <a:ext uri="{FF2B5EF4-FFF2-40B4-BE49-F238E27FC236}">
                <a16:creationId xmlns:a16="http://schemas.microsoft.com/office/drawing/2014/main" id="{2D2F60FA-FC38-CFAA-0520-E48783961529}"/>
              </a:ext>
            </a:extLst>
          </p:cNvPr>
          <p:cNvSpPr/>
          <p:nvPr/>
        </p:nvSpPr>
        <p:spPr>
          <a:xfrm>
            <a:off x="7178040" y="3568773"/>
            <a:ext cx="16459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000" dirty="0"/>
          </a:p>
        </p:txBody>
      </p:sp>
      <p:sp>
        <p:nvSpPr>
          <p:cNvPr id="160" name="Shape 59">
            <a:extLst>
              <a:ext uri="{FF2B5EF4-FFF2-40B4-BE49-F238E27FC236}">
                <a16:creationId xmlns:a16="http://schemas.microsoft.com/office/drawing/2014/main" id="{432EEFE6-1A2B-419A-0B66-83C1E64883AE}"/>
              </a:ext>
            </a:extLst>
          </p:cNvPr>
          <p:cNvSpPr/>
          <p:nvPr/>
        </p:nvSpPr>
        <p:spPr>
          <a:xfrm>
            <a:off x="274320" y="3907101"/>
            <a:ext cx="8503920" cy="256032"/>
          </a:xfrm>
          <a:prstGeom prst="rect">
            <a:avLst/>
          </a:prstGeom>
          <a:solidFill>
            <a:srgbClr val="EEEEEE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60">
            <a:extLst>
              <a:ext uri="{FF2B5EF4-FFF2-40B4-BE49-F238E27FC236}">
                <a16:creationId xmlns:a16="http://schemas.microsoft.com/office/drawing/2014/main" id="{6CF62677-3904-945F-3526-726856DA0CBB}"/>
              </a:ext>
            </a:extLst>
          </p:cNvPr>
          <p:cNvSpPr/>
          <p:nvPr/>
        </p:nvSpPr>
        <p:spPr>
          <a:xfrm>
            <a:off x="310896" y="3907101"/>
            <a:ext cx="54864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SPRINT 1  </a:t>
            </a:r>
            <a:endParaRPr lang="en-US" sz="1000" dirty="0"/>
          </a:p>
        </p:txBody>
      </p:sp>
      <p:sp>
        <p:nvSpPr>
          <p:cNvPr id="162" name="Text 61">
            <a:extLst>
              <a:ext uri="{FF2B5EF4-FFF2-40B4-BE49-F238E27FC236}">
                <a16:creationId xmlns:a16="http://schemas.microsoft.com/office/drawing/2014/main" id="{5030CEB2-6147-99B4-8085-D4EF1951737D}"/>
              </a:ext>
            </a:extLst>
          </p:cNvPr>
          <p:cNvSpPr/>
          <p:nvPr/>
        </p:nvSpPr>
        <p:spPr>
          <a:xfrm>
            <a:off x="6583680" y="3907101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163" name="Text 62">
            <a:extLst>
              <a:ext uri="{FF2B5EF4-FFF2-40B4-BE49-F238E27FC236}">
                <a16:creationId xmlns:a16="http://schemas.microsoft.com/office/drawing/2014/main" id="{3CC90838-ECC8-966C-DA76-28FBE03A0BA9}"/>
              </a:ext>
            </a:extLst>
          </p:cNvPr>
          <p:cNvSpPr/>
          <p:nvPr/>
        </p:nvSpPr>
        <p:spPr>
          <a:xfrm>
            <a:off x="7178040" y="3907101"/>
            <a:ext cx="16002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Capacidad: 36 pts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01168" cy="20116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Story Points miden esfuerzo relativo, no tiempo — hacen las estimaciones más honestas.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01168" cy="20116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Poker garantiza consenso y transfiere conocimiento dentro del equipo.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201168" cy="20116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velocidad histórica es la única base confiable para planificar releases.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201168" cy="20116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33832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mayores a 8 pts deben descomponerse antes de comprometerse en un sprint.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Bryan Quispe  ·  Construcción y Evolución de Software  ·  Mayo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524</Words>
  <Application>Microsoft Office PowerPoint</Application>
  <PresentationFormat>Presentación en pantalla (16:9)</PresentationFormat>
  <Paragraphs>134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Bryan Quispe</cp:lastModifiedBy>
  <cp:revision>4</cp:revision>
  <dcterms:created xsi:type="dcterms:W3CDTF">2026-05-07T01:48:35Z</dcterms:created>
  <dcterms:modified xsi:type="dcterms:W3CDTF">2026-05-07T15:07:32Z</dcterms:modified>
</cp:coreProperties>
</file>