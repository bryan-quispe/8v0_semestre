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821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194560" cy="32918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GN-2026 ·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Notas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Proyecto · Cronograma, Riesgos &amp; Matriz RACI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Quispe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Cueva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Descripción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224028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el proceso de registro y cálculo de notas académicas en instituciones educativas.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95728" y="86868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395728" y="868680"/>
            <a:ext cx="201168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8" y="109728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87168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Clave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487168" y="224028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Docentes, coordinadores académicos y estudiantes con acceso seguro por roles.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62856" y="86868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62856" y="868680"/>
            <a:ext cx="2011680" cy="731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656" y="109728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54296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54296" y="224028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PostgreSQL, next-auth, generación de reportes PDF y Swagger API.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29984" y="86868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729984" y="868680"/>
            <a:ext cx="2011680" cy="7315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109728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21424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21424" y="224028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Épicos, 6 Sprints, 29 días de desarrollo, 501 Puntos de Función estimados.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Módulos del Sistema (Épicos)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1645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594360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875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EP-1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1448" y="822960"/>
            <a:ext cx="1965960" cy="1645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41448" y="82296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78608" y="987552"/>
            <a:ext cx="594360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78608" y="9875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EP-2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78608" y="13716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822960"/>
            <a:ext cx="1965960" cy="1645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08576" y="822960"/>
            <a:ext cx="64008" cy="1645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45736" y="987552"/>
            <a:ext cx="594360" cy="2743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45736" y="9875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EP-3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45736" y="13716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Académica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45736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75704" y="822960"/>
            <a:ext cx="1965960" cy="1645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75704" y="822960"/>
            <a:ext cx="64008" cy="1645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12864" y="987552"/>
            <a:ext cx="594360" cy="2743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12864" y="9875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EP-4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12864" y="13716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12864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743200"/>
            <a:ext cx="1965960" cy="1645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2743200"/>
            <a:ext cx="64008" cy="164592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2907792"/>
            <a:ext cx="594360" cy="27432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29077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EP-5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3291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Parciales y Actividades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3977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41448" y="2743200"/>
            <a:ext cx="1965960" cy="1645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441448" y="2743200"/>
            <a:ext cx="64008" cy="164592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578608" y="2907792"/>
            <a:ext cx="594360" cy="27432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78608" y="29077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EP-6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78608" y="3291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578608" y="3977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08576" y="2743200"/>
            <a:ext cx="1965960" cy="1645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08576" y="2743200"/>
            <a:ext cx="64008" cy="164592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45736" y="2907792"/>
            <a:ext cx="594360" cy="27432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45736" y="29077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EP-7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45736" y="3291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45736" y="3977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75704" y="2743200"/>
            <a:ext cx="1965960" cy="1645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775704" y="2743200"/>
            <a:ext cx="64008" cy="1645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912864" y="2907792"/>
            <a:ext cx="59436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12864" y="29077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EP-8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12864" y="3291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PDF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12864" y="3977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Cronograma General — Diagrama Gantt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" y="685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/ Sprint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80360" y="6858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017520" y="868680"/>
            <a:ext cx="0" cy="365760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55720" y="6858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992880" y="868680"/>
            <a:ext cx="0" cy="365760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31080" y="6858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68240" y="868680"/>
            <a:ext cx="0" cy="365760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6858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D15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0" y="868680"/>
            <a:ext cx="0" cy="365760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81800" y="6858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D20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18960" y="868680"/>
            <a:ext cx="0" cy="365760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57160" y="6858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D25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894320" y="868680"/>
            <a:ext cx="0" cy="365760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32520" y="6858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D30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869680" y="868680"/>
            <a:ext cx="0" cy="365760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" y="1042416"/>
            <a:ext cx="8961120" cy="54864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716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Fundación del Sistema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" y="130759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EP-1 + EP-2 Autenticación &amp; Usuarios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17520" y="1115568"/>
            <a:ext cx="975360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38600" y="1143000"/>
            <a:ext cx="594360" cy="201168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38600" y="11430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6A34A"/>
                </a:solidFill>
              </a:rPr>
              <a:t>✓ Listo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91440" y="1636776"/>
            <a:ext cx="89611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716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Configuración Académica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7160" y="190195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EP-3 Configuración Académica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992880" y="1709928"/>
            <a:ext cx="975360" cy="2743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13960" y="1737360"/>
            <a:ext cx="594360" cy="201168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13960" y="17373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6A34A"/>
                </a:solidFill>
              </a:rPr>
              <a:t>✓ Listo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1440" y="2231136"/>
            <a:ext cx="8961120" cy="54864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716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Matrículas y Dashboard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7160" y="24963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EP-4 Matrículas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68240" y="2304288"/>
            <a:ext cx="975360" cy="2743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89320" y="2331720"/>
            <a:ext cx="594360" cy="201168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89320" y="23317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6A34A"/>
                </a:solidFill>
              </a:rPr>
              <a:t>✓ Listo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1440" y="2825496"/>
            <a:ext cx="89611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3716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Actividades y Evidencias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7160" y="309067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EP-5 + EP-6 Parciales &amp; Evidencias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43600" y="2898648"/>
            <a:ext cx="975360" cy="27432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964680" y="2926080"/>
            <a:ext cx="594360" cy="201168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64680" y="29260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6A34A"/>
                </a:solidFill>
              </a:rPr>
              <a:t>✓ Listo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1440" y="3419856"/>
            <a:ext cx="8961120" cy="54864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716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Calificaciones y Promedios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37160" y="368503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EP-7 Calificaciones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918960" y="3493008"/>
            <a:ext cx="975360" cy="27432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940040" y="3520440"/>
            <a:ext cx="594360" cy="201168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940040" y="35204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6A34A"/>
                </a:solidFill>
              </a:rPr>
              <a:t>✓ Listo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91440" y="4014216"/>
            <a:ext cx="89611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3716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— Reportes y Cierre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37160" y="427939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EP-8 Reportes PDF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894320" y="4087368"/>
            <a:ext cx="97536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915400" y="4114800"/>
            <a:ext cx="594360" cy="201168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915400" y="41148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6A34A"/>
                </a:solidFill>
              </a:rPr>
              <a:t>✓ Listo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Detalle de Sprints — Fases de Desarrollo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024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06–10 Abr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JWT, roles, CRUD usuarios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822960"/>
            <a:ext cx="2743200" cy="18288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822960"/>
            <a:ext cx="27432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1024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Académica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1325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11–15 Abr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7373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Períodos, materias, cursos, docentes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822960"/>
            <a:ext cx="2743200" cy="18288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822960"/>
            <a:ext cx="2743200" cy="5486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72200" y="100584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20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1024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1325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16–20 Abr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17373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Inscripciones, dashboard, asignaciones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2743200" cy="18288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2834640"/>
            <a:ext cx="2743200" cy="54864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1480" y="3017520"/>
            <a:ext cx="411480" cy="411480"/>
          </a:xfrm>
          <a:prstGeom prst="ellipse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0358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3337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21–25 Abr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37490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Parciales, actividades, subida de evidencias PDF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54680" y="2834640"/>
            <a:ext cx="2743200" cy="18288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54680" y="2834640"/>
            <a:ext cx="2743200" cy="54864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91840" y="3017520"/>
            <a:ext cx="411480" cy="411480"/>
          </a:xfrm>
          <a:prstGeom prst="ellipse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94760" y="30358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94760" y="3337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26–30 Abr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91840" y="37490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 ponderados, cálculo final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2834640"/>
            <a:ext cx="2743200" cy="18288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35040" y="2834640"/>
            <a:ext cx="27432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72200" y="301752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72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75120" y="30358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&amp; Cierre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75120" y="3337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01–05 May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72200" y="37490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reportes, Swagger, pruebas finales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Gestión de Riesgos — Resumen Ejecutivo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65960" cy="640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Totales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1965960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960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514600" y="1691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Graves (≥15)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1965960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960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663440" y="1691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Importantes (9–14)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82296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20840" y="822960"/>
            <a:ext cx="1965960" cy="64008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960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812280" y="1691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Apreciables (≤8)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423160"/>
            <a:ext cx="8595360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Evaluación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944368"/>
            <a:ext cx="201168" cy="2011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29077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= Probabilidad × Impacto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201168" cy="2011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" y="32369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→ CRÍTICO: acción inmediata requerida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02736"/>
            <a:ext cx="201168" cy="20116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" y="35661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15–19 → MUY GRAVE: mitigación urgente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201168" cy="201168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9808" y="38953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9–14 → IMPORTANTE: plan de contingencia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61104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9808" y="42245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1–8 → APRECIABLE/MENOR: monitoreo regular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Riesgos Críticos y Muy Graves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9768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86968"/>
            <a:ext cx="548640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869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84124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pruebas automatizadas en módulos críticos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5  ×  I: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29768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886968"/>
            <a:ext cx="548640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8869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84124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evidencias PDF como BYTEA en PostgreSQL satura la BD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138988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4  ×  I: 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801368"/>
            <a:ext cx="429768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1801368"/>
            <a:ext cx="54864" cy="91440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1911096"/>
            <a:ext cx="548640" cy="50292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191109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186537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 JWT débil o expuesto compromete todas las sesiones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241401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3  ×  I: 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801368"/>
            <a:ext cx="429768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1801368"/>
            <a:ext cx="54864" cy="91440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1911096"/>
            <a:ext cx="548640" cy="50292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191109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0" y="186537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incorrecto de promedios ponderados afecta calificaciones oficiales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241401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3  ×  I: 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825496"/>
            <a:ext cx="429768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8600" y="2825496"/>
            <a:ext cx="54864" cy="91440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2935224"/>
            <a:ext cx="548640" cy="50292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29352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5840" y="2889504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agresivo de 29 días para 501 PF genera deuda técnica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3438144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5  ×  I: 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825496"/>
            <a:ext cx="429768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2825496"/>
            <a:ext cx="54864" cy="91440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2935224"/>
            <a:ext cx="548640" cy="50292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29352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486400" y="2889504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datos por ausencia de estrategia de respaldos de PostgreSQL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0" y="3438144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3  ×  I: 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" y="3849624"/>
            <a:ext cx="429768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28600" y="3849624"/>
            <a:ext cx="54864" cy="9144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65760" y="3959352"/>
            <a:ext cx="548640" cy="5029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39593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16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05840" y="391363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sin restricción de orígenes en producción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5840" y="44622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4  ×  I: 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3849624"/>
            <a:ext cx="429768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09160" y="3849624"/>
            <a:ext cx="54864" cy="9144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846320" y="3959352"/>
            <a:ext cx="548640" cy="5029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46320" y="39593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16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486400" y="391363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rate limiting en login permite ataques de fuerza bruta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0" y="44622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4  ×  I: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Riesgos Importantes y Apreciables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30352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5303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859536"/>
            <a:ext cx="411480" cy="34747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595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8229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archivos maliciosos disfrazados como PDF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0" y="8869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P3×I4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35240" y="868680"/>
            <a:ext cx="1097280" cy="2926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35240" y="868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Importante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380744"/>
            <a:ext cx="85953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380744"/>
            <a:ext cx="54864" cy="5303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1463040"/>
            <a:ext cx="411480" cy="34747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1463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142646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next-auth en versión beta inestable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14904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P3×I4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35240" y="1472184"/>
            <a:ext cx="1097280" cy="2926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35240" y="14721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Importante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984248"/>
            <a:ext cx="8595360" cy="530352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1984248"/>
            <a:ext cx="54864" cy="5303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2066544"/>
            <a:ext cx="411480" cy="34747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0665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202996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plazo de entrega solo en frontend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20939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P4×I3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2075688"/>
            <a:ext cx="1097280" cy="2926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35240" y="2075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Importante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587752"/>
            <a:ext cx="85953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2587752"/>
            <a:ext cx="54864" cy="5303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2670048"/>
            <a:ext cx="411480" cy="34747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26700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263347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SMTP sin credenciales bloquea recuperación de contraseña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0" y="2697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P4×I3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2679192"/>
            <a:ext cx="1097280" cy="2926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35240" y="26791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Importante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191256"/>
            <a:ext cx="8595360" cy="530352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191256"/>
            <a:ext cx="54864" cy="53035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11480" y="3273552"/>
            <a:ext cx="411480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" y="32735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0120" y="323697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Desnormalización en tabla evidencias genera inconsistencias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66560" y="330098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P3×I3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635240" y="3282696"/>
            <a:ext cx="1097280" cy="2926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635240" y="32826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Importante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794760"/>
            <a:ext cx="85953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74320" y="3794760"/>
            <a:ext cx="54864" cy="53035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11480" y="3877056"/>
            <a:ext cx="411480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480" y="387705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60120" y="38404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Swagger en producción revela estructura del API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66560" y="39044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P3×I3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35240" y="3886200"/>
            <a:ext cx="1097280" cy="2926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35240" y="3886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Importante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398264"/>
            <a:ext cx="8595360" cy="530352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74320" y="4398264"/>
            <a:ext cx="54864" cy="53035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11480" y="4480560"/>
            <a:ext cx="411480" cy="34747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11480" y="44805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60120" y="444398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horizontal limitado por estado en memoria del Cron Job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766560" y="45079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P2×I3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635240" y="4489704"/>
            <a:ext cx="1097280" cy="292608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635240" y="44897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Apreciable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Mapa de Calor — Probabilidad vs Impacto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 rot="16200000">
            <a:off x="137160" y="164592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777240"/>
            <a:ext cx="1133856" cy="72237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77724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777240"/>
            <a:ext cx="1133856" cy="7223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77724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1133856" cy="7223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77724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0" y="777240"/>
            <a:ext cx="1133856" cy="7223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0" y="77724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40880" y="777240"/>
            <a:ext cx="1133856" cy="722376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77724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1554480"/>
            <a:ext cx="1133856" cy="722376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0" y="155448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74720" y="1554480"/>
            <a:ext cx="1133856" cy="72237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0" y="155448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1133856" cy="7223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155448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52160" y="1554480"/>
            <a:ext cx="1133856" cy="7223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0" y="155448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40880" y="1554480"/>
            <a:ext cx="1133856" cy="7223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0" y="155448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0" y="2331720"/>
            <a:ext cx="1133856" cy="7223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0" y="233172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74720" y="2331720"/>
            <a:ext cx="1133856" cy="722376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0" y="233172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63440" y="2331720"/>
            <a:ext cx="1133856" cy="72237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233172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52160" y="2331720"/>
            <a:ext cx="1133856" cy="7223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52160" y="233172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040880" y="2331720"/>
            <a:ext cx="1133856" cy="7223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40880" y="233172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8016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0" y="3108960"/>
            <a:ext cx="1133856" cy="7223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286000" y="310896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474720" y="3108960"/>
            <a:ext cx="1133856" cy="7223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74720" y="310896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663440" y="3108960"/>
            <a:ext cx="1133856" cy="722376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310896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852160" y="3108960"/>
            <a:ext cx="1133856" cy="72237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852160" y="310896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040880" y="3108960"/>
            <a:ext cx="1133856" cy="7223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040880" y="310896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80160" y="4114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Baja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286000" y="3886200"/>
            <a:ext cx="1133856" cy="7223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286000" y="388620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474720" y="3886200"/>
            <a:ext cx="1133856" cy="7223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74720" y="388620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663440" y="3886200"/>
            <a:ext cx="1133856" cy="7223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663440" y="388620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852160" y="3886200"/>
            <a:ext cx="1133856" cy="722376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852160" y="388620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040880" y="3886200"/>
            <a:ext cx="1133856" cy="72237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040880" y="3886200"/>
            <a:ext cx="11338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6576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286000" y="4709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Bajo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474720" y="4709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63440" y="4709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852160" y="4709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040880" y="4709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Alto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28016" y="1965960"/>
            <a:ext cx="27432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02336" y="199077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Grave / Crítico (≥15)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28016" y="1600200"/>
            <a:ext cx="274320" cy="2743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65760" y="1623713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(9–14)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28016" y="1207987"/>
            <a:ext cx="274320" cy="27432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65760" y="1207007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Apreciable (5–8)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28016" y="823613"/>
            <a:ext cx="274320" cy="2743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57200" y="834063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(1–4)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Estrategias de Mitigación Clave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6400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0241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JWT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50876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 secreto JWT, almacenar en variables de entorno, implementar expiración corta + refresh tokens.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27248" y="8229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127248" y="822960"/>
            <a:ext cx="2743200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005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21608" y="10241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PDF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64408" y="150876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evidencias a almacenamiento externo (S3/MinIO), guardar solo referencia URL en BD.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25896" y="8229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025896" y="822960"/>
            <a:ext cx="2743200" cy="6400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005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256" y="10241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63056" y="150876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suite Jest/Vitest para módulos de calificaciones, matrículas y autenticación.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28600" y="292608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228600" y="2926080"/>
            <a:ext cx="2743200" cy="64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108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31272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PostgreSQL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65760" y="361188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pg_dump automático diario, almacenar off-site, verificar restauración mensual.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27248" y="292608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127248" y="2926080"/>
            <a:ext cx="27432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31089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21608" y="31272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264408" y="361188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express-rate-limit en /api/auth/login, máx. 5 intentos/IP/minuto con bloqueo temporal.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25896" y="292608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025896" y="2926080"/>
            <a:ext cx="2743200" cy="64008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1089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20256" y="31272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Restrictivo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63056" y="361188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lista blanca de orígenes, deshabilitar Swagger en producción, restringir headers.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377440" cy="329184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MATRIZ RACI · EvalTrack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5029200" cy="36576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Notas — EvalTrack GN-2026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84048" cy="38404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3520440"/>
            <a:ext cx="384048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231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80360" y="3566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3520440"/>
            <a:ext cx="384048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566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3520440"/>
            <a:ext cx="384048" cy="384048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3566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en la Matriz: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Tutor  ·  Líder de Proyecto (Cueva/Quispe)  ·  Dev. Backend  ·  Dev. Frontend  ·  Arquitecto/DBA  ·  QA  ·  Admin / Profesor / Estudiante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Matriz RACI — Fase 1: Análisis  &amp;  Fase 2: Diseño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25146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685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Actividad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Doc.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Tutor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56616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Líder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Proyecto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8912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Dev.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Backend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21208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Dev.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Front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3504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Arq./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DBA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5800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QA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0664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Admin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95528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5528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Profe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50392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0392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Estud.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37160" y="1188720"/>
            <a:ext cx="8869680" cy="29260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11887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1: Análisis y Definición de Requisitos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" y="1481328"/>
            <a:ext cx="88696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64592" y="1554480"/>
            <a:ext cx="41148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4592" y="1554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Baja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0080" y="15179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inicial con stakeholders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1508760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1508760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6616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89120" y="1508760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8912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0" y="1508760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1208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1508760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58000" y="1508760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406640" y="1508760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0664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955280" y="1508760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95528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03920" y="1508760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0392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37160" y="1920240"/>
            <a:ext cx="8869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64592" y="1993392"/>
            <a:ext cx="411480" cy="2560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64592" y="19933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Media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40080" y="19568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requisitos funcionales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0" y="1947672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4320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566160" y="1947672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56616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389120" y="1947672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38912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212080" y="1947672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21208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035040" y="1947672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858000" y="1947672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406640" y="1947672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40664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955280" y="1947672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95528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503920" y="1947672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50392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37160" y="2359152"/>
            <a:ext cx="88696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64592" y="2432304"/>
            <a:ext cx="41148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64592" y="2432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Alta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40080" y="23957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HU y Puntos de Función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43200" y="2386584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74320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3566160" y="2386584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56616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389120" y="2386584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38912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212080" y="2386584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21208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035040" y="2386584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858000" y="2386584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406640" y="2386584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40664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955280" y="2386584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95528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503920" y="2386584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850392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137160" y="2798064"/>
            <a:ext cx="8869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64592" y="2871216"/>
            <a:ext cx="411480" cy="2560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64592" y="28712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Media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640080" y="2834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requisitos con usuarios finales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743200" y="2825496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74320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3566160" y="2825496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56616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389120" y="2825496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38912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212080" y="2825496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21208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6035040" y="2825496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6858000" y="2825496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7406640" y="2825496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40664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7955280" y="2825496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95528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8503920" y="2825496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850392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137160" y="3236976"/>
            <a:ext cx="8869680" cy="2926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228600" y="323697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2: Diseño del Sistema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137160" y="3529584"/>
            <a:ext cx="88696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64592" y="3602736"/>
            <a:ext cx="41148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64592" y="36027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Alta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640080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esquema de BD (Prisma/PostgreSQL)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743200" y="3557016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274320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3566160" y="3557016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356616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4389120" y="3557016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438912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5212080" y="3557016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521208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6035040" y="3557016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603504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6858000" y="3557016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7406640" y="3557016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7955280" y="3557016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8503920" y="3557016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37160" y="3968496"/>
            <a:ext cx="8869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64592" y="4041648"/>
            <a:ext cx="41148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164592" y="4041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Alta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640080" y="40050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arquitectura (NestJS + Next.js)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2743200" y="3995928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274320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3566160" y="3995928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356616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4389120" y="3995928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438912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5212080" y="3995928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521208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6035040" y="3995928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603504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6858000" y="3995928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7406640" y="3995928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7955280" y="3995928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8503920" y="3995928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137160" y="4407408"/>
            <a:ext cx="88696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64592" y="4480560"/>
            <a:ext cx="411480" cy="2560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164592" y="44805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Media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640080" y="44439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interfaces UI/UX (Tailwind CSS)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2743200" y="4434840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274320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3566160" y="4434840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356616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52" name="Shape 150"/>
          <p:cNvSpPr/>
          <p:nvPr/>
        </p:nvSpPr>
        <p:spPr>
          <a:xfrm>
            <a:off x="4389120" y="4434840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438912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4" name="Shape 152"/>
          <p:cNvSpPr/>
          <p:nvPr/>
        </p:nvSpPr>
        <p:spPr>
          <a:xfrm>
            <a:off x="5212080" y="4434840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521208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56" name="Shape 154"/>
          <p:cNvSpPr/>
          <p:nvPr/>
        </p:nvSpPr>
        <p:spPr>
          <a:xfrm>
            <a:off x="6035040" y="4434840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6858000" y="4434840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7406640" y="4434840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740664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60" name="Shape 158"/>
          <p:cNvSpPr/>
          <p:nvPr/>
        </p:nvSpPr>
        <p:spPr>
          <a:xfrm>
            <a:off x="7955280" y="4434840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795528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62" name="Shape 160"/>
          <p:cNvSpPr/>
          <p:nvPr/>
        </p:nvSpPr>
        <p:spPr>
          <a:xfrm>
            <a:off x="8503920" y="4434840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850392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64" name="Shape 162"/>
          <p:cNvSpPr/>
          <p:nvPr/>
        </p:nvSpPr>
        <p:spPr>
          <a:xfrm>
            <a:off x="137160" y="4846320"/>
            <a:ext cx="8869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164592" y="4919472"/>
            <a:ext cx="411480" cy="2560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164592" y="49194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Media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640080" y="48828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y aprobación del diseño técnico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2743200" y="4873752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2743200" y="48737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70" name="Shape 168"/>
          <p:cNvSpPr/>
          <p:nvPr/>
        </p:nvSpPr>
        <p:spPr>
          <a:xfrm>
            <a:off x="3566160" y="4873752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3566160" y="48737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72" name="Shape 170"/>
          <p:cNvSpPr/>
          <p:nvPr/>
        </p:nvSpPr>
        <p:spPr>
          <a:xfrm>
            <a:off x="4389120" y="4873752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Text 171"/>
          <p:cNvSpPr/>
          <p:nvPr/>
        </p:nvSpPr>
        <p:spPr>
          <a:xfrm>
            <a:off x="4389120" y="48737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74" name="Shape 172"/>
          <p:cNvSpPr/>
          <p:nvPr/>
        </p:nvSpPr>
        <p:spPr>
          <a:xfrm>
            <a:off x="5212080" y="4873752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/>
          <p:nvPr/>
        </p:nvSpPr>
        <p:spPr>
          <a:xfrm>
            <a:off x="5212080" y="48737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76" name="Shape 174"/>
          <p:cNvSpPr/>
          <p:nvPr/>
        </p:nvSpPr>
        <p:spPr>
          <a:xfrm>
            <a:off x="6035040" y="4873752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Text 175"/>
          <p:cNvSpPr/>
          <p:nvPr/>
        </p:nvSpPr>
        <p:spPr>
          <a:xfrm>
            <a:off x="6035040" y="48737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6858000" y="4873752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6858000" y="48737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80" name="Shape 178"/>
          <p:cNvSpPr/>
          <p:nvPr/>
        </p:nvSpPr>
        <p:spPr>
          <a:xfrm>
            <a:off x="7406640" y="4873752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Text 179"/>
          <p:cNvSpPr/>
          <p:nvPr/>
        </p:nvSpPr>
        <p:spPr>
          <a:xfrm>
            <a:off x="7406640" y="487375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82" name="Shape 180"/>
          <p:cNvSpPr/>
          <p:nvPr/>
        </p:nvSpPr>
        <p:spPr>
          <a:xfrm>
            <a:off x="7955280" y="4873752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8503920" y="4873752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Matriz RACI — Fase 3: Desarrollo (Sprints 1–6)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25146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685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Sprint / Actividad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Doc.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Tutor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56616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Líder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Proyecto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8912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Dev.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Backend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21208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Dev.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Front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3504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Arq./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DBA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5800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QA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0664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Admin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95528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5528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Profe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50392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0392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Estud.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37160" y="1188720"/>
            <a:ext cx="8869680" cy="292608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11887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3: Desarrollo — Todos los Sprints completados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" y="1508760"/>
            <a:ext cx="8869680" cy="46634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7160" y="1508760"/>
            <a:ext cx="54864" cy="4663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8600" y="1591056"/>
            <a:ext cx="310896" cy="31089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" y="1591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" y="1563624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Autenticación JWT y Gestión de Usuarios (CRUD + roles)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0" y="1572768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0" y="157276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66160" y="1572768"/>
            <a:ext cx="493776" cy="3108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66160" y="157276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89120" y="1572768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89120" y="157276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12080" y="1572768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12080" y="157276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1572768"/>
            <a:ext cx="493776" cy="31089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35040" y="157276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0" y="1572768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0" y="157276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06640" y="1572768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06640" y="157276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955280" y="1572768"/>
            <a:ext cx="493776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503920" y="1572768"/>
            <a:ext cx="493776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37160" y="2020824"/>
            <a:ext cx="8869680" cy="46634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37160" y="2020824"/>
            <a:ext cx="54864" cy="46634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28600" y="2103120"/>
            <a:ext cx="310896" cy="310896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2860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1792" y="207568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Años Lectivos, Cursos y Materias (Configuración Académica)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0" y="2084832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0" y="208483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566160" y="2084832"/>
            <a:ext cx="493776" cy="3108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566160" y="208483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389120" y="2084832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389120" y="208483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212080" y="2084832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212080" y="208483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035040" y="2084832"/>
            <a:ext cx="493776" cy="31089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035040" y="208483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58000" y="2084832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858000" y="208483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406640" y="2084832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406640" y="208483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955280" y="2084832"/>
            <a:ext cx="493776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503920" y="2084832"/>
            <a:ext cx="493776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37160" y="2532888"/>
            <a:ext cx="8869680" cy="46634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37160" y="2532888"/>
            <a:ext cx="54864" cy="46634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28600" y="2615184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2860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S3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21792" y="2587752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Matrículas, Traslados y Dashboard por rol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743200" y="2596896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743200" y="2596896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566160" y="2596896"/>
            <a:ext cx="493776" cy="3108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566160" y="2596896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389120" y="2596896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389120" y="2596896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212080" y="2596896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212080" y="2596896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035040" y="2596896"/>
            <a:ext cx="493776" cy="31089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035040" y="2596896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858000" y="2596896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858000" y="2596896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406640" y="2596896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406640" y="2596896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7955280" y="2596896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955280" y="2596896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8503920" y="2596896"/>
            <a:ext cx="493776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37160" y="3044952"/>
            <a:ext cx="8869680" cy="46634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37160" y="3044952"/>
            <a:ext cx="54864" cy="466344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28600" y="3127248"/>
            <a:ext cx="310896" cy="310896"/>
          </a:xfrm>
          <a:prstGeom prst="ellipse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2860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21792" y="3099816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Actividades por Parcial y Evidencias PDF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743200" y="3108960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2743200" y="31089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566160" y="3108960"/>
            <a:ext cx="493776" cy="3108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3566160" y="31089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389120" y="3108960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389120" y="31089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5212080" y="3108960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212080" y="31089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6035040" y="3108960"/>
            <a:ext cx="493776" cy="31089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035040" y="31089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6858000" y="3108960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6858000" y="31089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7406640" y="3108960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7406640" y="31089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7955280" y="3108960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7955280" y="31089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8503920" y="3108960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8503920" y="310896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137160" y="3557016"/>
            <a:ext cx="8869680" cy="46634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37160" y="3557016"/>
            <a:ext cx="54864" cy="466344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228600" y="3639312"/>
            <a:ext cx="310896" cy="310896"/>
          </a:xfrm>
          <a:prstGeom prst="ellipse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22860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S5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621792" y="361188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Calificaciones ponderadas y Promedios automáticos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2743200" y="3621024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2743200" y="362102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3566160" y="3621024"/>
            <a:ext cx="493776" cy="3108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3566160" y="362102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4389120" y="3621024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4389120" y="362102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5212080" y="3621024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5212080" y="362102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6035040" y="3621024"/>
            <a:ext cx="493776" cy="31089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6035040" y="362102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6858000" y="3621024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6858000" y="362102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7406640" y="3621024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7406640" y="362102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7955280" y="3621024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7955280" y="362102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8503920" y="3621024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8503920" y="362102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137160" y="4069080"/>
            <a:ext cx="8869680" cy="46634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137160" y="4069080"/>
            <a:ext cx="54864" cy="46634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228600" y="4151376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22860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S6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621792" y="4123944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— Reportes PDF y descarga de boletines de notas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2743200" y="4133088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2743200" y="413308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3566160" y="4133088"/>
            <a:ext cx="493776" cy="3108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3566160" y="413308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4389120" y="4133088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4389120" y="413308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5212080" y="4133088"/>
            <a:ext cx="493776" cy="31089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5212080" y="413308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49" name="Shape 147"/>
          <p:cNvSpPr/>
          <p:nvPr/>
        </p:nvSpPr>
        <p:spPr>
          <a:xfrm>
            <a:off x="6035040" y="4133088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6035040" y="413308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1" name="Shape 149"/>
          <p:cNvSpPr/>
          <p:nvPr/>
        </p:nvSpPr>
        <p:spPr>
          <a:xfrm>
            <a:off x="6858000" y="4133088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6858000" y="413308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7406640" y="4133088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7406640" y="413308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5" name="Shape 153"/>
          <p:cNvSpPr/>
          <p:nvPr/>
        </p:nvSpPr>
        <p:spPr>
          <a:xfrm>
            <a:off x="7955280" y="4133088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7955280" y="413308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8503920" y="4133088"/>
            <a:ext cx="493776" cy="31089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8503920" y="413308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Matriz RACI — Fase 4: Pruebas  &amp;  Fase 5: Cierre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25146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685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Actividad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Doc.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Tutor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56616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Líder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Proyecto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8912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Dev.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Backend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21208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Dev.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Front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3504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Arq./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DBA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5800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QA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0664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Admin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95528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5528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Profe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503920" y="685800"/>
            <a:ext cx="5303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03920" y="685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Estud.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37160" y="1188720"/>
            <a:ext cx="8869680" cy="2926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11887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4: Pruebas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" y="1481328"/>
            <a:ext cx="88696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64592" y="1554480"/>
            <a:ext cx="41148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4592" y="1554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Alta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0080" y="15179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del backend (endpoints NestJS)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1508760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1508760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6616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89120" y="1508760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8912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0" y="1508760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1208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1508760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3504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58000" y="1508760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58000" y="15087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06640" y="1508760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955280" y="1508760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503920" y="1508760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7160" y="1920240"/>
            <a:ext cx="8869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64592" y="1993392"/>
            <a:ext cx="41148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64592" y="19933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Alta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40080" y="19568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integración (API + Base de datos)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0" y="1947672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566160" y="1947672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56616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389120" y="1947672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38912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212080" y="1947672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21208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035040" y="1947672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03504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58000" y="1947672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858000" y="194767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406640" y="1947672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955280" y="1947672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503920" y="1947672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37160" y="2359152"/>
            <a:ext cx="88696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64592" y="2432304"/>
            <a:ext cx="41148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64592" y="24323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Alta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40080" y="23957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aceptación con los 3 roles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0" y="2386584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74320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566160" y="2386584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56616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389120" y="2386584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38912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212080" y="2386584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21208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035040" y="2386584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858000" y="2386584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85800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7406640" y="2386584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40664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955280" y="2386584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95528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8503920" y="2386584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503920" y="238658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137160" y="2798064"/>
            <a:ext cx="8869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64592" y="2871216"/>
            <a:ext cx="411480" cy="2560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64592" y="28712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Media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640080" y="2834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bugs y ajustes finales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0" y="2825496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274320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566160" y="2825496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56616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389120" y="2825496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38912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5212080" y="2825496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521208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035040" y="2825496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03504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6858000" y="2825496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85800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7406640" y="2825496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40664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7955280" y="2825496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7955280" y="282549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8503920" y="2825496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37160" y="3236976"/>
            <a:ext cx="8869680" cy="29260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228600" y="323697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5: Implementación y Cierre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137160" y="3529584"/>
            <a:ext cx="88696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64592" y="3602736"/>
            <a:ext cx="41148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64592" y="36027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Alta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640080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 del sistema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743200" y="3557016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274320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3566160" y="3557016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356616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4389120" y="3557016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438912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5212080" y="3557016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521208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6035040" y="3557016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603504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6858000" y="3557016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685800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7406640" y="3557016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740664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7955280" y="3557016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795528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8503920" y="3557016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8503920" y="355701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137160" y="3968496"/>
            <a:ext cx="8869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164592" y="4041648"/>
            <a:ext cx="411480" cy="2560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164592" y="4041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Media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640080" y="40050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usuarios del sistema (3 roles)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2743200" y="3995928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274320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3566160" y="3995928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56616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4389120" y="3995928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438912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5212080" y="3995928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521208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42" name="Shape 140"/>
          <p:cNvSpPr/>
          <p:nvPr/>
        </p:nvSpPr>
        <p:spPr>
          <a:xfrm>
            <a:off x="6035040" y="3995928"/>
            <a:ext cx="493776" cy="3474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6858000" y="3995928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685800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7406640" y="3995928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740664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7955280" y="3995928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795528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49" name="Shape 147"/>
          <p:cNvSpPr/>
          <p:nvPr/>
        </p:nvSpPr>
        <p:spPr>
          <a:xfrm>
            <a:off x="8503920" y="3995928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8503920" y="399592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51" name="Shape 149"/>
          <p:cNvSpPr/>
          <p:nvPr/>
        </p:nvSpPr>
        <p:spPr>
          <a:xfrm>
            <a:off x="137160" y="4407408"/>
            <a:ext cx="88696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164592" y="4480560"/>
            <a:ext cx="41148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164592" y="44805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Baja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640080" y="44439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(Manual de Usuario)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2743200" y="4434840"/>
            <a:ext cx="493776" cy="34747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274320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3566160" y="4434840"/>
            <a:ext cx="493776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356616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4389120" y="4434840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438912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5212080" y="4434840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521208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6035040" y="4434840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603504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6858000" y="4434840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685800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7406640" y="4434840"/>
            <a:ext cx="493776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740664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69" name="Shape 167"/>
          <p:cNvSpPr/>
          <p:nvPr/>
        </p:nvSpPr>
        <p:spPr>
          <a:xfrm>
            <a:off x="7955280" y="4434840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795528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71" name="Shape 169"/>
          <p:cNvSpPr/>
          <p:nvPr/>
        </p:nvSpPr>
        <p:spPr>
          <a:xfrm>
            <a:off x="8503920" y="4434840"/>
            <a:ext cx="493776" cy="34747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/>
          <p:nvPr/>
        </p:nvSpPr>
        <p:spPr>
          <a:xfrm>
            <a:off x="8503920" y="443484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Conclusiones y Próximos Pasos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64008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914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en Tiempo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28016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sprints fueron completados en los 29 días planificados. Todos los épicos con estado Completado.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847088"/>
            <a:ext cx="859536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1847088"/>
            <a:ext cx="64008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7568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93852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Identificados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97280" y="230428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detectaron 15 riesgos, 7 de ellos Muy Graves. Se proponen planes de mitigación concretos.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871216"/>
            <a:ext cx="859536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74320" y="2871216"/>
            <a:ext cx="64008" cy="9144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99816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29626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Definidos — RACI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97280" y="332841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RACI completa para 5 fases y 21 actividades. Responsabilidades claras entre Líder, Dev, QA y usuarios.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3895344"/>
            <a:ext cx="859536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274320" y="3895344"/>
            <a:ext cx="64008" cy="9144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23944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98678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Fase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97280" y="43525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integración, configuración de CI/CD, backups automáticos y revisión de seguridad.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1371600"/>
            <a:ext cx="3657600" cy="36576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3200400" y="21488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</a:t>
            </a:r>
            <a:r>
              <a:rPr lang="en-US" sz="1500" dirty="0" err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30175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Quispe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Cueva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 ·  15 Riesgos  ·  21 Actividades RACI  ·  8 Épicos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1443</Words>
  <Application>Microsoft Office PowerPoint</Application>
  <PresentationFormat>Presentación en pantalla (16:9)</PresentationFormat>
  <Paragraphs>508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Notas - GN-2026</dc:title>
  <dc:subject>PptxGenJS Presentation</dc:subject>
  <dc:creator>Bryan Quispe &amp; Luis Cueva</dc:creator>
  <cp:lastModifiedBy>Bryan Quispe</cp:lastModifiedBy>
  <cp:revision>2</cp:revision>
  <dcterms:created xsi:type="dcterms:W3CDTF">2026-05-07T03:25:25Z</dcterms:created>
  <dcterms:modified xsi:type="dcterms:W3CDTF">2026-05-07T03:28:01Z</dcterms:modified>
</cp:coreProperties>
</file>