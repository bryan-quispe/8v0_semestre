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ACADÉMICA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 Proyectos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Software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487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utilizando Story Points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7772400" cy="0"/>
          </a:xfrm>
          <a:prstGeom prst="line">
            <a:avLst/>
          </a:prstGeom>
          <a:noFill/>
          <a:ln w="889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Quispe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|      </a:t>
            </a:r>
            <a:pPr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Ángel Marcelo Rea Guamán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y Evolución de Software    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¿Qué son los Story Points?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822960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medida relativa para estimar esfuerzo, complejidad e incertidumbre de las historias de usuario. No representan horas; permiten comparar tareas entre sí.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020824"/>
            <a:ext cx="1051560" cy="457200"/>
          </a:xfrm>
          <a:prstGeom prst="rect">
            <a:avLst/>
          </a:prstGeom>
          <a:solidFill>
            <a:srgbClr val="E8F5E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2082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55064" y="1965960"/>
            <a:ext cx="1051560" cy="566928"/>
          </a:xfrm>
          <a:prstGeom prst="rect">
            <a:avLst/>
          </a:prstGeom>
          <a:solidFill>
            <a:srgbClr val="C8E6C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55064" y="1965960"/>
            <a:ext cx="1051560" cy="340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81912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52928" y="1911096"/>
            <a:ext cx="1051560" cy="676656"/>
          </a:xfrm>
          <a:prstGeom prst="rect">
            <a:avLst/>
          </a:prstGeom>
          <a:solidFill>
            <a:srgbClr val="A5D6A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2928" y="1911096"/>
            <a:ext cx="1051560" cy="405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79776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50792" y="1856232"/>
            <a:ext cx="1051560" cy="786384"/>
          </a:xfrm>
          <a:prstGeom prst="rect">
            <a:avLst/>
          </a:prstGeom>
          <a:solidFill>
            <a:srgbClr val="81C78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0792" y="1856232"/>
            <a:ext cx="1051560" cy="471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77640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48656" y="1801368"/>
            <a:ext cx="1051560" cy="896112"/>
          </a:xfrm>
          <a:prstGeom prst="rect">
            <a:avLst/>
          </a:prstGeom>
          <a:solidFill>
            <a:srgbClr val="4CAF5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48656" y="1801368"/>
            <a:ext cx="1051560" cy="537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75504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46520" y="1746504"/>
            <a:ext cx="1051560" cy="1005840"/>
          </a:xfrm>
          <a:prstGeom prst="rect">
            <a:avLst/>
          </a:prstGeom>
          <a:solidFill>
            <a:srgbClr val="388E3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746504"/>
            <a:ext cx="1051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73368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gr.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644384" y="1691640"/>
            <a:ext cx="1051560" cy="1115568"/>
          </a:xfrm>
          <a:prstGeom prst="rect">
            <a:avLst/>
          </a:prstGeom>
          <a:solidFill>
            <a:srgbClr val="1B5E2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44384" y="1691640"/>
            <a:ext cx="1051560" cy="669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71232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Fibonacci — a mayor valor, mayor incertidumbre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566160"/>
            <a:ext cx="54864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" y="3913632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 entre tareas, no contra el reloj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651760" y="356616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51760" y="3566160"/>
            <a:ext cx="54864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16352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816352" y="3913632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equipo vota, no solo el líder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46320" y="356616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566160"/>
            <a:ext cx="54864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10912" y="3913632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productividad sprint a sprint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040880" y="356616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40880" y="3566160"/>
            <a:ext cx="54864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05472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horas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205472" y="3913632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convertir pts a horas en público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Factores de Estimación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822960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historia se evalúa en tres dimensiones simultáneas. El punto final refleja la combinación de las tres.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0116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201168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técnica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capas involucra?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negocio, integraciones externas, algoritmos, estados concurrentes.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4206240"/>
            <a:ext cx="1828800" cy="274320"/>
          </a:xfrm>
          <a:prstGeom prst="rect">
            <a:avLst/>
          </a:prstGeom>
          <a:solidFill>
            <a:srgbClr val="EAF3DE"/>
          </a:solidFill>
          <a:ln w="6350">
            <a:solidFill>
              <a:srgbClr val="BBDD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↑ puntos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280160"/>
            <a:ext cx="20116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1280160"/>
            <a:ext cx="201168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280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60320" y="1874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de trabajo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3042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hay que hacer?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60320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del stack afectadas, cobertura de tests, migraciones de base de datos.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0" y="4206240"/>
            <a:ext cx="1828800" cy="274320"/>
          </a:xfrm>
          <a:prstGeom prst="rect">
            <a:avLst/>
          </a:prstGeom>
          <a:solidFill>
            <a:srgbClr val="EAF3DE"/>
          </a:solidFill>
          <a:ln w="6350">
            <a:solidFill>
              <a:srgbClr val="BBDD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Directo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1280160"/>
            <a:ext cx="20116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1280160"/>
            <a:ext cx="201168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280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09160" y="1874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23042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claros son los requisitos?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09160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externas, APIs sin documentar, tecnología nueva para el equipo.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4206240"/>
            <a:ext cx="1828800" cy="274320"/>
          </a:xfrm>
          <a:prstGeom prst="rect">
            <a:avLst/>
          </a:prstGeom>
          <a:solidFill>
            <a:srgbClr val="EAF3DE"/>
          </a:solidFill>
          <a:ln w="6350">
            <a:solidFill>
              <a:srgbClr val="BBDDB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↑ puntos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66560" y="1280160"/>
            <a:ext cx="20116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0" y="1280160"/>
            <a:ext cx="201168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1280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58000" y="1874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Repetibilidad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23042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¿Ya se resolvió algo similar?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58000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conocidas reciben menos puntos aunque el volumen sea similar.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0" y="4206240"/>
            <a:ext cx="1828800" cy="274320"/>
          </a:xfrm>
          <a:prstGeom prst="rect">
            <a:avLst/>
          </a:prstGeom>
          <a:solidFill>
            <a:srgbClr val="EAF3DE"/>
          </a:solidFill>
          <a:ln w="6350">
            <a:solidFill>
              <a:srgbClr val="BBDDB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↓ puntos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Estimación de Equipo — Planning Poker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822960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347472" cy="347472"/>
          </a:xfrm>
          <a:prstGeom prst="ellipse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8412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presenta la historia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" y="1170432"/>
            <a:ext cx="0" cy="25603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347472" cy="347472"/>
          </a:xfrm>
          <a:prstGeom prst="ellipse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4356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miembro elige una carta en secreto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" y="1764792"/>
            <a:ext cx="0" cy="25603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347472" cy="347472"/>
          </a:xfrm>
          <a:prstGeom prst="ellipse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11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0299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revelan sus cartas al mismo tiempo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" y="2359152"/>
            <a:ext cx="0" cy="25603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06040"/>
            <a:ext cx="347472" cy="347472"/>
          </a:xfrm>
          <a:prstGeom prst="ellipse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6243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Discrepancias → debate breve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" y="2953512"/>
            <a:ext cx="0" cy="25603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00400"/>
            <a:ext cx="347472" cy="34747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00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2186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vota de nuevo hasta consenso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120640" y="777240"/>
            <a:ext cx="37490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868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Velocidad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1325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1362456"/>
            <a:ext cx="2377440" cy="201168"/>
          </a:xfrm>
          <a:prstGeom prst="rect">
            <a:avLst/>
          </a:prstGeom>
          <a:solidFill>
            <a:srgbClr val="EEEEEE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1362456"/>
            <a:ext cx="1236269" cy="2011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13258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pts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0" y="19842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2020824"/>
            <a:ext cx="2377440" cy="201168"/>
          </a:xfrm>
          <a:prstGeom prst="rect">
            <a:avLst/>
          </a:prstGeom>
          <a:solidFill>
            <a:srgbClr val="EEEEEE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2020824"/>
            <a:ext cx="1474013" cy="2011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0" y="19842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pts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0" y="26426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2679192"/>
            <a:ext cx="2377440" cy="201168"/>
          </a:xfrm>
          <a:prstGeom prst="rect">
            <a:avLst/>
          </a:prstGeom>
          <a:solidFill>
            <a:srgbClr val="EEEEEE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2679192"/>
            <a:ext cx="1711757" cy="2011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26426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pts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12080" y="33009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63640" y="3337560"/>
            <a:ext cx="2377440" cy="201168"/>
          </a:xfrm>
          <a:prstGeom prst="rect">
            <a:avLst/>
          </a:prstGeom>
          <a:solidFill>
            <a:srgbClr val="EEEEEE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3337560"/>
            <a:ext cx="1806854" cy="2011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0" y="33009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pts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12080" y="39776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estabilizada: ~35 pts/sprint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base para planificar releases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41148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clave: nunca convertir Story Points a horas en público.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Ejemplo Práctico — Sistema Gestor de Notas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694944"/>
            <a:ext cx="850392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+ Prisma + PostgreSQL  ·  Equipo 4 devs  ·  Velocidad: 36 pts/sprint  ·  Sprint 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2468880"/>
            <a:ext cx="850392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468880"/>
            <a:ext cx="4023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usuario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34840" y="2468880"/>
            <a:ext cx="685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66360" y="2468880"/>
            <a:ext cx="685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97880" y="2468880"/>
            <a:ext cx="685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29400" y="2468880"/>
            <a:ext cx="5486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23760" y="2468880"/>
            <a:ext cx="16459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16352"/>
            <a:ext cx="85039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816352"/>
            <a:ext cx="4023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email + JWT (Auth, bcrypt)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2816352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66360" y="2816352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97880" y="2816352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2816352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2816352"/>
            <a:ext cx="16459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8503920" cy="32918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54680"/>
            <a:ext cx="4023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año lectivo (CRUD)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34840" y="3154680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66360" y="3154680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97880" y="3154680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3154680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3154680"/>
            <a:ext cx="16459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493008"/>
            <a:ext cx="85039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493008"/>
            <a:ext cx="4023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actividades con límite por parcial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34840" y="3493008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66360" y="3493008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97880" y="3493008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9400" y="3493008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3493008"/>
            <a:ext cx="16459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831336"/>
            <a:ext cx="8503920" cy="32918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831336"/>
            <a:ext cx="4023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 masivas bulk (upsert)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34840" y="3831336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3831336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97880" y="3831336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29400" y="3831336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3831336"/>
            <a:ext cx="16459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169664"/>
            <a:ext cx="85039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169664"/>
            <a:ext cx="4023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Recálculo de promedios por parcial/materia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434840" y="4169664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66360" y="4169664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97880" y="4169664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29400" y="4169664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223760" y="4169664"/>
            <a:ext cx="16459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4507992"/>
            <a:ext cx="8503920" cy="32918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507992"/>
            <a:ext cx="4023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al publicar actividad (Nodemailer)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434840" y="4507992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66360" y="4507992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97880" y="4507992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629400" y="4507992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223760" y="4507992"/>
            <a:ext cx="16459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0040" y="4846320"/>
            <a:ext cx="85039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846320"/>
            <a:ext cx="4023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retención de evidencias (@schedule)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434840" y="4846320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166360" y="4846320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897880" y="4846320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629400" y="4846320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223760" y="4846320"/>
            <a:ext cx="16459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Sig. sprint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solidFill>
            <a:srgbClr val="EEEEEE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6616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SPRINT 1  (job evidencias → Sprint 2)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629400" y="48463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223760" y="4846320"/>
            <a:ext cx="16002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Capacidad: 36 pts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01168" cy="20116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Story Points miden esfuerzo relativo, no tiempo — hacen las estimaciones más honestas.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01168" cy="20116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 garantiza consenso y transfiere conocimiento dentro del equipo.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01168" cy="20116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60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velocidad histórica es la única base confiable para planificar releases.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201168" cy="20116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832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mayores a 8 pts deben descomponerse antes de comprometerse en un sprint.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Quispe  ·  Construcción y Evolución de Software  ·  Mayo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2026-05-07T14:47:49Z</dcterms:created>
  <dcterms:modified xsi:type="dcterms:W3CDTF">2026-05-07T14:47:49Z</dcterms:modified>
</cp:coreProperties>
</file>